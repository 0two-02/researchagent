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90" r:id="rId2"/>
    <p:sldId id="291" r:id="rId3"/>
    <p:sldId id="292" r:id="rId4"/>
    <p:sldId id="293" r:id="rId5"/>
    <p:sldId id="294" r:id="rId6"/>
    <p:sldId id="299" r:id="rId7"/>
    <p:sldId id="304" r:id="rId8"/>
    <p:sldId id="305" r:id="rId9"/>
    <p:sldId id="306" r:id="rId10"/>
    <p:sldId id="307" r:id="rId11"/>
    <p:sldId id="308" r:id="rId12"/>
    <p:sldId id="309"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0two-02/ResearchAgent.git"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238117870"/>
              </p:ext>
            </p:extLst>
          </p:nvPr>
        </p:nvGraphicFramePr>
        <p:xfrm>
          <a:off x="1299257" y="2600315"/>
          <a:ext cx="9394989" cy="2253407"/>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71263">
                  <a:extLst>
                    <a:ext uri="{9D8B030D-6E8A-4147-A177-3AD203B41FA5}">
                      <a16:colId xmlns:a16="http://schemas.microsoft.com/office/drawing/2014/main" val="20003"/>
                    </a:ext>
                  </a:extLst>
                </a:gridCol>
                <a:gridCol w="2415485">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US" dirty="0"/>
                        <a:t>  </a:t>
                      </a:r>
                      <a:r>
                        <a:rPr lang="en-US" sz="1600" b="0" dirty="0"/>
                        <a:t>Nikita Deshmukh</a:t>
                      </a:r>
                      <a:endParaRPr sz="1600" b="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endParaRPr lang="en-US" sz="1400" b="0" i="0" u="none" strike="noStrike" cap="none" dirty="0">
                        <a:solidFill>
                          <a:srgbClr val="000000"/>
                        </a:solidFill>
                        <a:effectLst/>
                        <a:latin typeface="Arial"/>
                        <a:ea typeface="Arial"/>
                        <a:cs typeface="Arial"/>
                        <a:sym typeface="Arial"/>
                      </a:endParaRPr>
                    </a:p>
                    <a:p>
                      <a:r>
                        <a:rPr lang="en-US" sz="1800" b="0" i="0" u="none" strike="noStrike" cap="none" dirty="0">
                          <a:solidFill>
                            <a:srgbClr val="000000"/>
                          </a:solidFill>
                          <a:effectLst/>
                          <a:latin typeface="Arial"/>
                          <a:ea typeface="Arial"/>
                          <a:cs typeface="Arial"/>
                          <a:sym typeface="Arial"/>
                        </a:rPr>
                        <a:t>nikitadeshmukh559@gmail.com</a:t>
                      </a:r>
                    </a:p>
                    <a:p>
                      <a:br>
                        <a:rPr lang="en-US" dirty="0"/>
                      </a:b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US" sz="1800" dirty="0"/>
                        <a:t>+91 7828029974</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dirty="0"/>
              <a:t>Education / Research / Artificial Intelligence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dirty="0" err="1"/>
              <a:t>ResearchPilot</a:t>
            </a:r>
            <a:r>
              <a:rPr lang="en-US" sz="2400" dirty="0"/>
              <a:t> AI</a:t>
            </a:r>
            <a:endParaRPr lang="en-IN" sz="2400" b="1" dirty="0">
              <a:highlight>
                <a:srgbClr val="FFFF00"/>
              </a:highlight>
            </a:endParaRPr>
          </a:p>
        </p:txBody>
      </p:sp>
      <p:pic>
        <p:nvPicPr>
          <p:cNvPr id="5" name="Picture 4">
            <a:extLst>
              <a:ext uri="{FF2B5EF4-FFF2-40B4-BE49-F238E27FC236}">
                <a16:creationId xmlns:a16="http://schemas.microsoft.com/office/drawing/2014/main" id="{D7900A24-4EC6-0915-C4D1-51374331D981}"/>
              </a:ext>
            </a:extLst>
          </p:cNvPr>
          <p:cNvPicPr>
            <a:picLocks noChangeAspect="1"/>
          </p:cNvPicPr>
          <p:nvPr/>
        </p:nvPicPr>
        <p:blipFill>
          <a:blip r:embed="rId3"/>
          <a:srcRect t="909" b="909"/>
          <a:stretch/>
        </p:blipFill>
        <p:spPr>
          <a:xfrm>
            <a:off x="4208206" y="3731530"/>
            <a:ext cx="707659" cy="893070"/>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693866"/>
          </a:xfrm>
          <a:prstGeom prst="rect">
            <a:avLst/>
          </a:prstGeom>
          <a:noFill/>
        </p:spPr>
        <p:txBody>
          <a:bodyPr wrap="square" rtlCol="0">
            <a:spAutoFit/>
          </a:bodyPr>
          <a:lstStyle/>
          <a:p>
            <a:r>
              <a:rPr lang="en-IN" sz="1600" b="1" dirty="0"/>
              <a:t>Problem Statement No.7: Research Agent</a:t>
            </a:r>
            <a:endParaRPr lang="en-US" sz="1600" dirty="0"/>
          </a:p>
          <a:p>
            <a:pPr marL="285750" indent="-285750">
              <a:buFont typeface="Wingdings" panose="05000000000000000000" pitchFamily="2" charset="2"/>
              <a:buChar char="Ø"/>
            </a:pPr>
            <a:r>
              <a:rPr lang="en-IN" sz="1600" b="1" dirty="0"/>
              <a:t>The Challenge</a:t>
            </a:r>
            <a:endParaRPr lang="en-US" sz="1600" dirty="0"/>
          </a:p>
          <a:p>
            <a:pPr marL="285750" indent="-285750">
              <a:buFont typeface="Arial" panose="020B0604020202020204" pitchFamily="34" charset="0"/>
              <a:buChar char="•"/>
            </a:pPr>
            <a:r>
              <a:rPr lang="en-IN" sz="1600" dirty="0"/>
              <a:t>Researchers, students, and professionals often deal with scattered academic papers, technical articles, and experimental data spread across multiple platforms. Filtering relevant knowledge, summarizing insights, and keeping track of the latest developments is time-consuming and inefficient. The challenge is not just to collect references but to </a:t>
            </a:r>
            <a:r>
              <a:rPr lang="en-IN" sz="1600" b="1" dirty="0"/>
              <a:t>synthesize, </a:t>
            </a:r>
            <a:r>
              <a:rPr lang="en-IN" sz="1600" b="1" dirty="0" err="1"/>
              <a:t>analyze</a:t>
            </a:r>
            <a:r>
              <a:rPr lang="en-IN" sz="1600" b="1" dirty="0"/>
              <a:t>, and generate actionable research insights</a:t>
            </a:r>
            <a:r>
              <a:rPr lang="en-IN" sz="1600" dirty="0"/>
              <a:t> in real time.</a:t>
            </a:r>
            <a:br>
              <a:rPr lang="en-IN" sz="1600" dirty="0"/>
            </a:br>
            <a:endParaRPr lang="en-US" sz="1600" dirty="0"/>
          </a:p>
          <a:p>
            <a:pPr marL="285750" indent="-285750">
              <a:buFont typeface="Wingdings" panose="05000000000000000000" pitchFamily="2" charset="2"/>
              <a:buChar char="Ø"/>
            </a:pPr>
            <a:r>
              <a:rPr lang="en-IN" sz="1600" b="1" dirty="0"/>
              <a:t>The Objective</a:t>
            </a:r>
            <a:endParaRPr lang="en-US" sz="1600" dirty="0"/>
          </a:p>
          <a:p>
            <a:pPr marL="285750" indent="-285750">
              <a:buFont typeface="Arial" panose="020B0604020202020204" pitchFamily="34" charset="0"/>
              <a:buChar char="•"/>
            </a:pPr>
            <a:r>
              <a:rPr lang="en-IN" sz="1600" b="1" dirty="0"/>
              <a:t>Build an agentic AI application</a:t>
            </a:r>
            <a:r>
              <a:rPr lang="en-IN" sz="1600" dirty="0"/>
              <a:t> that acts as an intelligent research companion. The solution should:</a:t>
            </a:r>
          </a:p>
          <a:p>
            <a:pPr marL="285750" indent="-285750">
              <a:buFont typeface="Arial" panose="020B0604020202020204" pitchFamily="34" charset="0"/>
              <a:buChar char="•"/>
            </a:pPr>
            <a:endParaRPr lang="en-US" sz="1600" dirty="0"/>
          </a:p>
          <a:p>
            <a:pPr marL="342900" lvl="0" indent="-342900">
              <a:buFont typeface="+mj-lt"/>
              <a:buAutoNum type="arabicPeriod"/>
            </a:pPr>
            <a:r>
              <a:rPr lang="en-IN" sz="1600" b="1" dirty="0"/>
              <a:t>Fuse Academic Sources:</a:t>
            </a:r>
            <a:r>
              <a:rPr lang="en-IN" sz="1600" dirty="0"/>
              <a:t> Aggregate data from research papers, journals, preprints, and knowledge repositories, then synthesize them into clear, concise literature reviews.</a:t>
            </a:r>
          </a:p>
          <a:p>
            <a:pPr marL="342900" lvl="0" indent="-342900">
              <a:buFont typeface="+mj-lt"/>
              <a:buAutoNum type="arabicPeriod"/>
            </a:pPr>
            <a:endParaRPr lang="en-US" sz="1600" dirty="0"/>
          </a:p>
          <a:p>
            <a:pPr marL="342900" lvl="0" indent="-342900">
              <a:buFont typeface="+mj-lt"/>
              <a:buAutoNum type="arabicPeriod"/>
            </a:pPr>
            <a:r>
              <a:rPr lang="en-IN" sz="1600" b="1" dirty="0"/>
              <a:t>Enable Multimodal Research Input:</a:t>
            </a:r>
            <a:r>
              <a:rPr lang="en-IN" sz="1600" dirty="0"/>
              <a:t> Accept user queries, notes, charts, or even PDFs, and convert them into structured insights, references, and summaries.</a:t>
            </a:r>
          </a:p>
          <a:p>
            <a:pPr marL="342900" lvl="0" indent="-342900">
              <a:buFont typeface="+mj-lt"/>
              <a:buAutoNum type="arabicPeriod"/>
            </a:pPr>
            <a:endParaRPr lang="en-US" sz="1600" dirty="0"/>
          </a:p>
          <a:p>
            <a:pPr marL="342900" lvl="0" indent="-342900">
              <a:buFont typeface="+mj-lt"/>
              <a:buAutoNum type="arabicPeriod"/>
            </a:pPr>
            <a:r>
              <a:rPr lang="en-IN" sz="1600" b="1" dirty="0"/>
              <a:t>Create a Predictive &amp; Agentic Layer:</a:t>
            </a:r>
            <a:r>
              <a:rPr lang="en-IN" sz="1600" dirty="0"/>
              <a:t> Highlight emerging trends, detect citation gaps, and predict promising directions for future research in a given domain.</a:t>
            </a:r>
          </a:p>
          <a:p>
            <a:pPr marL="342900" lvl="0" indent="-342900">
              <a:buFont typeface="+mj-lt"/>
              <a:buAutoNum type="arabicPeriod"/>
            </a:pPr>
            <a:endParaRPr lang="en-US" sz="1600" dirty="0"/>
          </a:p>
          <a:p>
            <a:pPr marL="342900" lvl="0" indent="-342900">
              <a:buFont typeface="+mj-lt"/>
              <a:buAutoNum type="arabicPeriod"/>
            </a:pPr>
            <a:r>
              <a:rPr lang="en-IN" sz="1600" b="1" dirty="0"/>
              <a:t>Visualize Research Insights:</a:t>
            </a:r>
            <a:r>
              <a:rPr lang="en-IN" sz="1600" dirty="0"/>
              <a:t> Provide an interactive dashboard with topic clusters, citation maps, sentiment/trend analysis, and concise knowledge graphs.</a:t>
            </a:r>
            <a:endParaRPr lang="en-US" sz="1600"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694059" y="1013578"/>
            <a:ext cx="10607040" cy="5940088"/>
          </a:xfrm>
          <a:prstGeom prst="rect">
            <a:avLst/>
          </a:prstGeom>
          <a:noFill/>
        </p:spPr>
        <p:txBody>
          <a:bodyPr wrap="square" rtlCol="0">
            <a:spAutoFit/>
          </a:bodyPr>
          <a:lstStyle/>
          <a:p>
            <a:pPr fontAlgn="base"/>
            <a:endParaRPr lang="en-US" b="1" dirty="0"/>
          </a:p>
          <a:p>
            <a:pPr marL="285750" indent="-285750">
              <a:buFont typeface="Wingdings" panose="05000000000000000000" pitchFamily="2" charset="2"/>
              <a:buChar char="Ø"/>
            </a:pPr>
            <a:r>
              <a:rPr lang="en-US" sz="1600" b="1" dirty="0"/>
              <a:t>Proposed Solution: AI-Powered Research Companion</a:t>
            </a:r>
            <a:br>
              <a:rPr lang="en-US" sz="1600" b="1" dirty="0"/>
            </a:br>
            <a:endParaRPr lang="en-US" sz="1600" b="1" dirty="0"/>
          </a:p>
          <a:p>
            <a:pPr marL="285750" indent="-285750">
              <a:buFont typeface="Arial" panose="020B0604020202020204" pitchFamily="34" charset="0"/>
              <a:buChar char="•"/>
            </a:pPr>
            <a:r>
              <a:rPr lang="en-US" sz="1600" dirty="0"/>
              <a:t>The proposed solution is a </a:t>
            </a:r>
            <a:r>
              <a:rPr lang="en-US" sz="1600" b="1" dirty="0"/>
              <a:t>multi-agent AI Research Companion</a:t>
            </a:r>
            <a:r>
              <a:rPr lang="en-US" sz="1600" dirty="0"/>
              <a:t> built using </a:t>
            </a:r>
            <a:r>
              <a:rPr lang="en-US" sz="1600" b="1" dirty="0"/>
              <a:t>IBM </a:t>
            </a:r>
            <a:r>
              <a:rPr lang="en-US" sz="1600" b="1" dirty="0" err="1"/>
              <a:t>Langflow</a:t>
            </a:r>
            <a:r>
              <a:rPr lang="en-US" sz="1600" b="1" dirty="0"/>
              <a:t>/Orchestrate, IBM watsonx.ai, and Granite Models</a:t>
            </a:r>
            <a:r>
              <a:rPr lang="en-US" sz="1600" dirty="0"/>
              <a:t> to simplify research discovery, analysis, and decision-making.</a:t>
            </a:r>
            <a:br>
              <a:rPr lang="en-US" sz="1600" dirty="0"/>
            </a:br>
            <a:endParaRPr lang="en-US" sz="1600" dirty="0"/>
          </a:p>
          <a:p>
            <a:pPr marL="285750" indent="-285750">
              <a:buFont typeface="Arial" panose="020B0604020202020204" pitchFamily="34" charset="0"/>
              <a:buChar char="•"/>
            </a:pPr>
            <a:r>
              <a:rPr lang="en-US" sz="1600" dirty="0"/>
              <a:t>The system uses </a:t>
            </a:r>
            <a:r>
              <a:rPr lang="en-US" sz="1600" b="1" dirty="0"/>
              <a:t>RAG (Retrieval-Augmented Generation)</a:t>
            </a:r>
            <a:r>
              <a:rPr lang="en-US" sz="1600" dirty="0"/>
              <a:t> to retrieve relevant information from academic papers, journals, preprints, and trusted knowledge sources, then generates concise and reliable insights.</a:t>
            </a:r>
          </a:p>
          <a:p>
            <a:pPr marL="285750" indent="-285750">
              <a:buFont typeface="Arial" panose="020B0604020202020204" pitchFamily="34" charset="0"/>
              <a:buChar char="•"/>
            </a:pPr>
            <a:endParaRPr lang="en-US" sz="1600" dirty="0"/>
          </a:p>
          <a:p>
            <a:pPr marL="285750" indent="-285750">
              <a:buFont typeface="Wingdings" panose="05000000000000000000" pitchFamily="2" charset="2"/>
              <a:buChar char="Ø"/>
            </a:pPr>
            <a:r>
              <a:rPr lang="en-US" sz="1600" b="1" dirty="0"/>
              <a:t>Key Agents:</a:t>
            </a:r>
            <a:br>
              <a:rPr lang="en-US" sz="1600" b="1" dirty="0"/>
            </a:br>
            <a:endParaRPr lang="en-US" sz="1600" dirty="0"/>
          </a:p>
          <a:p>
            <a:pPr marL="342900" lvl="0" indent="-342900">
              <a:buFont typeface="+mj-lt"/>
              <a:buAutoNum type="arabicPeriod"/>
            </a:pPr>
            <a:r>
              <a:rPr lang="en-US" sz="1600" b="1" dirty="0"/>
              <a:t>Research Planner Agent</a:t>
            </a:r>
            <a:r>
              <a:rPr lang="en-US" sz="1600" dirty="0"/>
              <a:t> – Understands the research question and creates a plan.</a:t>
            </a:r>
          </a:p>
          <a:p>
            <a:pPr marL="342900" lvl="0" indent="-342900">
              <a:buFont typeface="+mj-lt"/>
              <a:buAutoNum type="arabicPeriod"/>
            </a:pPr>
            <a:r>
              <a:rPr lang="en-US" sz="1600" b="1" dirty="0"/>
              <a:t>Research Discovery Agent</a:t>
            </a:r>
            <a:r>
              <a:rPr lang="en-US" sz="1600" dirty="0"/>
              <a:t> – Finds and ranks relevant research sources.</a:t>
            </a:r>
          </a:p>
          <a:p>
            <a:pPr marL="342900" lvl="0" indent="-342900">
              <a:buFont typeface="+mj-lt"/>
              <a:buAutoNum type="arabicPeriod"/>
            </a:pPr>
            <a:r>
              <a:rPr lang="en-US" sz="1600" b="1" dirty="0"/>
              <a:t>Paper Analysis Agent</a:t>
            </a:r>
            <a:r>
              <a:rPr lang="en-US" sz="1600" dirty="0"/>
              <a:t> – Extracts key findings, methods, and limitations.</a:t>
            </a:r>
          </a:p>
          <a:p>
            <a:pPr marL="342900" lvl="0" indent="-342900">
              <a:buFont typeface="+mj-lt"/>
              <a:buAutoNum type="arabicPeriod"/>
            </a:pPr>
            <a:r>
              <a:rPr lang="en-US" sz="1600" b="1" dirty="0"/>
              <a:t>Research Gap Agent</a:t>
            </a:r>
            <a:r>
              <a:rPr lang="en-US" sz="1600" dirty="0"/>
              <a:t> – Identifies gaps and unexplored areas.</a:t>
            </a:r>
          </a:p>
          <a:p>
            <a:pPr marL="342900" lvl="0" indent="-342900">
              <a:buFont typeface="+mj-lt"/>
              <a:buAutoNum type="arabicPeriod"/>
            </a:pPr>
            <a:r>
              <a:rPr lang="en-US" sz="1600" b="1" dirty="0"/>
              <a:t>Trend Analysis Agent</a:t>
            </a:r>
            <a:r>
              <a:rPr lang="en-US" sz="1600" dirty="0"/>
              <a:t> – Detects emerging research trends.</a:t>
            </a:r>
          </a:p>
          <a:p>
            <a:pPr marL="342900" lvl="0" indent="-342900">
              <a:buFont typeface="+mj-lt"/>
              <a:buAutoNum type="arabicPeriod"/>
            </a:pPr>
            <a:r>
              <a:rPr lang="en-US" sz="1600" b="1" dirty="0"/>
              <a:t>Recommendation Agent</a:t>
            </a:r>
            <a:r>
              <a:rPr lang="en-US" sz="1600" dirty="0"/>
              <a:t> – Suggests promising future research directions.</a:t>
            </a:r>
            <a:br>
              <a:rPr lang="en-US" sz="1600" dirty="0"/>
            </a:br>
            <a:endParaRPr lang="en-US" sz="1600" dirty="0"/>
          </a:p>
          <a:p>
            <a:pPr marL="285750" indent="-285750">
              <a:buFont typeface="Arial" panose="020B0604020202020204" pitchFamily="34" charset="0"/>
              <a:buChar char="•"/>
            </a:pPr>
            <a:r>
              <a:rPr lang="en-US" sz="1600" dirty="0"/>
              <a:t>A </a:t>
            </a:r>
            <a:r>
              <a:rPr lang="en-US" sz="1600" b="1" dirty="0"/>
              <a:t>research dashboard</a:t>
            </a:r>
            <a:r>
              <a:rPr lang="en-US" sz="1600" dirty="0"/>
              <a:t> visualizes topic clusters, trends, citation relationships, research gaps, and knowledge graphs.</a:t>
            </a:r>
            <a:br>
              <a:rPr lang="en-US" sz="1600" dirty="0"/>
            </a:br>
            <a:endParaRPr lang="en-US" sz="1600" dirty="0"/>
          </a:p>
          <a:p>
            <a:pPr marL="285750" indent="-285750">
              <a:buFont typeface="Arial" panose="020B0604020202020204" pitchFamily="34" charset="0"/>
              <a:buChar char="•"/>
            </a:pPr>
            <a:r>
              <a:rPr lang="en-US" sz="1600" b="1" dirty="0"/>
              <a:t>IBM technologies</a:t>
            </a:r>
            <a:r>
              <a:rPr lang="en-US" sz="1600" dirty="0"/>
              <a:t> provide workflow orchestration, model deployment, reasoning, summarization, and research insight generation.</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838200" y="1443841"/>
            <a:ext cx="10515600" cy="3970318"/>
          </a:xfrm>
          <a:prstGeom prst="rect">
            <a:avLst/>
          </a:prstGeom>
          <a:noFill/>
        </p:spPr>
        <p:txBody>
          <a:bodyPr wrap="square" rtlCol="0">
            <a:spAutoFit/>
          </a:bodyPr>
          <a:lstStyle/>
          <a:p>
            <a:endParaRPr lang="en-US" b="1" dirty="0"/>
          </a:p>
          <a:p>
            <a:pPr marL="285750" lvl="0" indent="-285750">
              <a:buFont typeface="Arial" panose="020B0604020202020204" pitchFamily="34" charset="0"/>
              <a:buChar char="•"/>
            </a:pPr>
            <a:r>
              <a:rPr lang="en-US" sz="1600" b="1" dirty="0"/>
              <a:t>IBM Bob / </a:t>
            </a:r>
            <a:r>
              <a:rPr lang="en-US" sz="1600" b="1" dirty="0" err="1"/>
              <a:t>Langflow</a:t>
            </a:r>
            <a:r>
              <a:rPr lang="en-US" sz="1600" b="1" dirty="0"/>
              <a:t> / Orchestrate</a:t>
            </a:r>
            <a:r>
              <a:rPr lang="en-US" sz="1600" dirty="0"/>
              <a:t> – For designing and orchestrating multi-agent workflows.</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b="1" dirty="0"/>
              <a:t>IBM Granite Models</a:t>
            </a:r>
            <a:r>
              <a:rPr lang="en-US" sz="1600" dirty="0"/>
              <a:t> – For natural language understanding, reasoning, summarization, and insight generation.</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b="1" dirty="0"/>
              <a:t>IBM Cloud</a:t>
            </a:r>
            <a:r>
              <a:rPr lang="en-US" sz="1600" dirty="0"/>
              <a:t> – Provides a secure, reliable, and scalable environment for deploying the application.</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b="1" dirty="0"/>
              <a:t>RAG (Retrieval-Augmented Generation)</a:t>
            </a:r>
            <a:r>
              <a:rPr lang="en-US" sz="1600" dirty="0"/>
              <a:t> – Retrieves relevant research data first, then generates evidence-based answers.</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b="1" dirty="0"/>
              <a:t>IBM watsonx.ai</a:t>
            </a:r>
            <a:r>
              <a:rPr lang="en-US" sz="1600" dirty="0"/>
              <a:t> – For model deployment, embeddings, and AI governance.</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b="1" dirty="0"/>
              <a:t>Vector Database (FAISS/Chroma)</a:t>
            </a:r>
            <a:r>
              <a:rPr lang="en-US" sz="1600" dirty="0"/>
              <a:t> – Stores document embeddings and enables fast research-data retrieval.</a:t>
            </a:r>
          </a:p>
          <a:p>
            <a:pPr lvl="0"/>
            <a:endParaRPr lang="en-US" sz="1600" dirty="0"/>
          </a:p>
          <a:p>
            <a:pPr marL="285750" lvl="0" indent="-285750">
              <a:buFont typeface="Arial" panose="020B0604020202020204" pitchFamily="34" charset="0"/>
              <a:buChar char="•"/>
            </a:pPr>
            <a:r>
              <a:rPr lang="en-US" sz="1600" b="1" dirty="0"/>
              <a:t>Python &amp; </a:t>
            </a:r>
            <a:r>
              <a:rPr lang="en-US" sz="1600" b="1" dirty="0" err="1"/>
              <a:t>Streamlit</a:t>
            </a:r>
            <a:r>
              <a:rPr lang="en-US" sz="1600" b="1" dirty="0"/>
              <a:t>/React</a:t>
            </a:r>
            <a:r>
              <a:rPr lang="en-US" sz="1600" dirty="0"/>
              <a:t> – For application development and an interactive research dashboard.</a:t>
            </a:r>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627624"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034558"/>
            <a:ext cx="8078591" cy="5293757"/>
          </a:xfrm>
          <a:prstGeom prst="rect">
            <a:avLst/>
          </a:prstGeom>
          <a:noFill/>
        </p:spPr>
        <p:txBody>
          <a:bodyPr wrap="square" rtlCol="0">
            <a:spAutoFit/>
          </a:bodyPr>
          <a:lstStyle/>
          <a:p>
            <a:r>
              <a:rPr lang="en-US" sz="1600" b="1" dirty="0"/>
              <a:t>Role of Agentic AI in </a:t>
            </a:r>
            <a:r>
              <a:rPr lang="en-US" sz="1600" b="1" dirty="0" err="1"/>
              <a:t>ResearchPilot</a:t>
            </a:r>
            <a:r>
              <a:rPr lang="en-US" sz="1600" b="1" dirty="0"/>
              <a:t> AI</a:t>
            </a:r>
            <a:br>
              <a:rPr lang="en-US" sz="1600" b="1" dirty="0"/>
            </a:br>
            <a:endParaRPr lang="en-US" sz="1600" b="1" dirty="0"/>
          </a:p>
          <a:p>
            <a:r>
              <a:rPr lang="en-US" sz="1600" b="1" dirty="0"/>
              <a:t>Agentic AI</a:t>
            </a:r>
            <a:r>
              <a:rPr lang="en-US" sz="1600" dirty="0"/>
              <a:t> enables </a:t>
            </a:r>
            <a:r>
              <a:rPr lang="en-US" sz="1600" dirty="0" err="1"/>
              <a:t>ResearchPilot</a:t>
            </a:r>
            <a:r>
              <a:rPr lang="en-US" sz="1600" dirty="0"/>
              <a:t> AI to work as an </a:t>
            </a:r>
            <a:r>
              <a:rPr lang="en-US" sz="1600" b="1" dirty="0"/>
              <a:t>intelligent, autonomous research companion</a:t>
            </a:r>
            <a:r>
              <a:rPr lang="en-US" sz="1600" dirty="0"/>
              <a:t> rather than a simple chatbot.</a:t>
            </a:r>
            <a:br>
              <a:rPr lang="en-US" sz="1600" dirty="0"/>
            </a:br>
            <a:endParaRPr lang="en-US" sz="1600" dirty="0"/>
          </a:p>
          <a:p>
            <a:r>
              <a:rPr lang="en-US" sz="1600" dirty="0"/>
              <a:t>It coordinates multiple specialized agents to perform different research tasks:</a:t>
            </a:r>
            <a:br>
              <a:rPr lang="en-US" sz="1600" dirty="0"/>
            </a:br>
            <a:endParaRPr lang="en-US" sz="1600" dirty="0"/>
          </a:p>
          <a:p>
            <a:pPr marL="342900" lvl="0" indent="-342900">
              <a:buFont typeface="+mj-lt"/>
              <a:buAutoNum type="arabicPeriod"/>
            </a:pPr>
            <a:r>
              <a:rPr lang="en-US" sz="1600" b="1" dirty="0"/>
              <a:t>Research Planner Agent</a:t>
            </a:r>
            <a:r>
              <a:rPr lang="en-US" sz="1600" dirty="0"/>
              <a:t> – Understands the research question and creates a plan.</a:t>
            </a:r>
          </a:p>
          <a:p>
            <a:pPr marL="342900" lvl="0" indent="-342900">
              <a:buFont typeface="+mj-lt"/>
              <a:buAutoNum type="arabicPeriod"/>
            </a:pPr>
            <a:r>
              <a:rPr lang="en-US" sz="1600" b="1" dirty="0"/>
              <a:t>Research Discovery Agent</a:t>
            </a:r>
            <a:r>
              <a:rPr lang="en-US" sz="1600" dirty="0"/>
              <a:t> – Finds and retrieves relevant research sources.</a:t>
            </a:r>
          </a:p>
          <a:p>
            <a:pPr marL="342900" lvl="0" indent="-342900">
              <a:buFont typeface="+mj-lt"/>
              <a:buAutoNum type="arabicPeriod"/>
            </a:pPr>
            <a:r>
              <a:rPr lang="en-US" sz="1600" b="1" dirty="0"/>
              <a:t>Paper Analysis Agent</a:t>
            </a:r>
            <a:r>
              <a:rPr lang="en-US" sz="1600" dirty="0"/>
              <a:t> – Extracts key findings, methods, and limitations.</a:t>
            </a:r>
          </a:p>
          <a:p>
            <a:pPr marL="342900" lvl="0" indent="-342900">
              <a:buFont typeface="+mj-lt"/>
              <a:buAutoNum type="arabicPeriod"/>
            </a:pPr>
            <a:r>
              <a:rPr lang="en-US" sz="1600" b="1" dirty="0"/>
              <a:t>Research Gap Agent</a:t>
            </a:r>
            <a:r>
              <a:rPr lang="en-US" sz="1600" dirty="0"/>
              <a:t> – Identifies gaps and unexplored areas.</a:t>
            </a:r>
          </a:p>
          <a:p>
            <a:pPr marL="342900" lvl="0" indent="-342900">
              <a:buFont typeface="+mj-lt"/>
              <a:buAutoNum type="arabicPeriod"/>
            </a:pPr>
            <a:r>
              <a:rPr lang="en-US" sz="1600" b="1" dirty="0"/>
              <a:t>Trend Analysis Agent</a:t>
            </a:r>
            <a:r>
              <a:rPr lang="en-US" sz="1600" dirty="0"/>
              <a:t> – Detects emerging research trends.</a:t>
            </a:r>
          </a:p>
          <a:p>
            <a:pPr marL="342900" lvl="0" indent="-342900">
              <a:buFont typeface="+mj-lt"/>
              <a:buAutoNum type="arabicPeriod"/>
            </a:pPr>
            <a:r>
              <a:rPr lang="en-US" sz="1600" b="1" dirty="0"/>
              <a:t>Recommendation Agent</a:t>
            </a:r>
            <a:r>
              <a:rPr lang="en-US" sz="1600" dirty="0"/>
              <a:t> – Suggests promising future research directions.</a:t>
            </a:r>
            <a:br>
              <a:rPr lang="en-US" sz="1600" dirty="0"/>
            </a:br>
            <a:endParaRPr lang="en-US" sz="1600" dirty="0"/>
          </a:p>
          <a:p>
            <a:r>
              <a:rPr lang="en-US" sz="1600" dirty="0"/>
              <a:t>Agentic AI enables </a:t>
            </a:r>
            <a:r>
              <a:rPr lang="en-US" sz="1600" b="1" dirty="0"/>
              <a:t>context awareness</a:t>
            </a:r>
            <a:r>
              <a:rPr lang="en-US" sz="1600" dirty="0"/>
              <a:t>, allowing the system to understand the user's research goal and provide relevant insights. Agents also </a:t>
            </a:r>
            <a:r>
              <a:rPr lang="en-US" sz="1600" b="1" dirty="0"/>
              <a:t>communicate and collaborate</a:t>
            </a:r>
            <a:r>
              <a:rPr lang="en-US" sz="1600" dirty="0"/>
              <a:t>, improving task execution and decision-making.</a:t>
            </a:r>
            <a:br>
              <a:rPr lang="en-US" sz="1600" dirty="0"/>
            </a:br>
            <a:endParaRPr lang="en-US" sz="1600" dirty="0"/>
          </a:p>
          <a:p>
            <a:r>
              <a:rPr lang="en-US" sz="1600" dirty="0"/>
              <a:t>Overall, Agentic AI makes </a:t>
            </a:r>
            <a:r>
              <a:rPr lang="en-US" sz="1600" dirty="0" err="1"/>
              <a:t>ResearchPilot</a:t>
            </a:r>
            <a:r>
              <a:rPr lang="en-US" sz="1600" dirty="0"/>
              <a:t> AI </a:t>
            </a:r>
            <a:r>
              <a:rPr lang="en-US" sz="1600" b="1" dirty="0"/>
              <a:t>proactive, adaptive, and goal-driven</a:t>
            </a:r>
            <a:r>
              <a:rPr lang="en-US" sz="1600" dirty="0"/>
              <a:t>, transforming scattered research into actionable knowledge.</a:t>
            </a:r>
          </a:p>
          <a:p>
            <a:endParaRPr lang="en-US" sz="1800" dirty="0"/>
          </a:p>
        </p:txBody>
      </p:sp>
    </p:spTree>
    <p:extLst>
      <p:ext uri="{BB962C8B-B14F-4D97-AF65-F5344CB8AC3E}">
        <p14:creationId xmlns:p14="http://schemas.microsoft.com/office/powerpoint/2010/main" val="4000696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600259" y="1064284"/>
            <a:ext cx="11301984" cy="5847755"/>
          </a:xfrm>
          <a:prstGeom prst="rect">
            <a:avLst/>
          </a:prstGeom>
          <a:noFill/>
        </p:spPr>
        <p:txBody>
          <a:bodyPr wrap="square" rtlCol="0">
            <a:spAutoFit/>
          </a:bodyPr>
          <a:lstStyle/>
          <a:p>
            <a:pPr marL="285750" indent="-285750">
              <a:buFont typeface="Arial" panose="020B0604020202020204" pitchFamily="34" charset="0"/>
              <a:buChar char="•"/>
            </a:pPr>
            <a:r>
              <a:rPr lang="en-US" sz="1800" dirty="0" err="1"/>
              <a:t>ResearchPilot</a:t>
            </a:r>
            <a:r>
              <a:rPr lang="en-US" sz="1800" dirty="0"/>
              <a:t> AI stands out by combining </a:t>
            </a:r>
            <a:r>
              <a:rPr lang="en-US" sz="1800" b="1" dirty="0"/>
              <a:t>Agentic AI, RAG, multimodal analysis, and research prediction</a:t>
            </a:r>
            <a:r>
              <a:rPr lang="en-US" sz="1800" dirty="0"/>
              <a:t> into one intelligent research system.</a:t>
            </a:r>
            <a:br>
              <a:rPr lang="en-US" sz="1800" dirty="0"/>
            </a:br>
            <a:endParaRPr lang="en-US" sz="1800" dirty="0"/>
          </a:p>
          <a:p>
            <a:pPr marL="342900" lvl="0" indent="-342900">
              <a:buFont typeface="+mj-lt"/>
              <a:buAutoNum type="arabicPeriod"/>
            </a:pPr>
            <a:r>
              <a:rPr lang="en-US" sz="1800" b="1" dirty="0"/>
              <a:t>Multi-Agent Intelligence</a:t>
            </a:r>
            <a:r>
              <a:rPr lang="en-US" sz="1800" dirty="0"/>
              <a:t> – Multiple specialized agents collaborate to perform research tasks.</a:t>
            </a:r>
          </a:p>
          <a:p>
            <a:pPr marL="342900" lvl="0" indent="-342900">
              <a:buFont typeface="+mj-lt"/>
              <a:buAutoNum type="arabicPeriod"/>
            </a:pPr>
            <a:endParaRPr lang="en-US" sz="1800" dirty="0"/>
          </a:p>
          <a:p>
            <a:pPr marL="342900" lvl="0" indent="-342900">
              <a:buFont typeface="+mj-lt"/>
              <a:buAutoNum type="arabicPeriod"/>
            </a:pPr>
            <a:r>
              <a:rPr lang="en-US" sz="1800" b="1" dirty="0"/>
              <a:t>RAG-Based Accuracy</a:t>
            </a:r>
            <a:r>
              <a:rPr lang="en-US" sz="1800" dirty="0"/>
              <a:t> – Retrieves relevant research data before generating evidence-based answers.</a:t>
            </a:r>
          </a:p>
          <a:p>
            <a:pPr marL="342900" lvl="0" indent="-342900">
              <a:buFont typeface="+mj-lt"/>
              <a:buAutoNum type="arabicPeriod"/>
            </a:pPr>
            <a:endParaRPr lang="en-US" sz="1800" dirty="0"/>
          </a:p>
          <a:p>
            <a:pPr marL="342900" lvl="0" indent="-342900">
              <a:buFont typeface="+mj-lt"/>
              <a:buAutoNum type="arabicPeriod"/>
            </a:pPr>
            <a:r>
              <a:rPr lang="en-US" sz="1800" b="1" dirty="0"/>
              <a:t>Automated Research Gap Detection</a:t>
            </a:r>
            <a:r>
              <a:rPr lang="en-US" sz="1800" dirty="0"/>
              <a:t> – Identifies limitations, missing areas, and unexplored research topics.</a:t>
            </a:r>
          </a:p>
          <a:p>
            <a:pPr marL="342900" lvl="0" indent="-342900">
              <a:buFont typeface="+mj-lt"/>
              <a:buAutoNum type="arabicPeriod"/>
            </a:pPr>
            <a:endParaRPr lang="en-US" sz="1800" dirty="0"/>
          </a:p>
          <a:p>
            <a:pPr marL="342900" lvl="0" indent="-342900">
              <a:buFont typeface="+mj-lt"/>
              <a:buAutoNum type="arabicPeriod"/>
            </a:pPr>
            <a:r>
              <a:rPr lang="en-US" sz="1800" b="1" dirty="0"/>
              <a:t>Emerging Trend Analysis</a:t>
            </a:r>
            <a:r>
              <a:rPr lang="en-US" sz="1800" dirty="0"/>
              <a:t> – Detects growing research areas and important new developments.</a:t>
            </a:r>
          </a:p>
          <a:p>
            <a:pPr marL="342900" lvl="0" indent="-342900">
              <a:buFont typeface="+mj-lt"/>
              <a:buAutoNum type="arabicPeriod"/>
            </a:pPr>
            <a:endParaRPr lang="en-US" sz="1800" dirty="0"/>
          </a:p>
          <a:p>
            <a:pPr marL="342900" lvl="0" indent="-342900">
              <a:buFont typeface="+mj-lt"/>
              <a:buAutoNum type="arabicPeriod"/>
            </a:pPr>
            <a:r>
              <a:rPr lang="en-US" sz="1800" b="1" dirty="0"/>
              <a:t>Multimodal Research Input</a:t>
            </a:r>
            <a:r>
              <a:rPr lang="en-US" sz="1800" dirty="0"/>
              <a:t> – Supports </a:t>
            </a:r>
            <a:r>
              <a:rPr lang="en-US" sz="1800" b="1" dirty="0"/>
              <a:t>queries, PDFs, notes, charts, and images</a:t>
            </a:r>
            <a:r>
              <a:rPr lang="en-US" sz="1800" dirty="0"/>
              <a:t>.</a:t>
            </a:r>
          </a:p>
          <a:p>
            <a:pPr marL="342900" lvl="0" indent="-342900">
              <a:buFont typeface="+mj-lt"/>
              <a:buAutoNum type="arabicPeriod"/>
            </a:pPr>
            <a:endParaRPr lang="en-US" sz="1800" dirty="0"/>
          </a:p>
          <a:p>
            <a:pPr marL="342900" lvl="0" indent="-342900">
              <a:buFont typeface="+mj-lt"/>
              <a:buAutoNum type="arabicPeriod"/>
            </a:pPr>
            <a:r>
              <a:rPr lang="en-US" sz="1800" b="1" dirty="0"/>
              <a:t>Future Research Recommendations</a:t>
            </a:r>
            <a:r>
              <a:rPr lang="en-US" sz="1800" dirty="0"/>
              <a:t> – Suggests promising research directions based on identified gaps and trends.</a:t>
            </a:r>
          </a:p>
          <a:p>
            <a:pPr marL="342900" lvl="0" indent="-342900">
              <a:buFont typeface="+mj-lt"/>
              <a:buAutoNum type="arabicPeriod"/>
            </a:pPr>
            <a:endParaRPr lang="en-US" sz="1800" dirty="0"/>
          </a:p>
          <a:p>
            <a:pPr marL="342900" lvl="0" indent="-342900">
              <a:buFont typeface="+mj-lt"/>
              <a:buAutoNum type="arabicPeriod"/>
            </a:pPr>
            <a:r>
              <a:rPr lang="en-US" sz="1800" b="1" dirty="0"/>
              <a:t>Interactive Visualization</a:t>
            </a:r>
            <a:r>
              <a:rPr lang="en-US" sz="1800" dirty="0"/>
              <a:t> – Presents insights through </a:t>
            </a:r>
            <a:r>
              <a:rPr lang="en-US" sz="1800" b="1" dirty="0"/>
              <a:t>topic clusters, citation maps, and knowledge graphs</a:t>
            </a:r>
            <a:r>
              <a:rPr lang="en-US" sz="1800" dirty="0"/>
              <a:t>.</a:t>
            </a:r>
          </a:p>
          <a:p>
            <a:pPr lvl="0"/>
            <a:endParaRPr lang="en-US" sz="1800"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p>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349B2201-F082-79F6-D4D9-1728D165780F}"/>
              </a:ext>
            </a:extLst>
          </p:cNvPr>
          <p:cNvSpPr txBox="1"/>
          <p:nvPr/>
        </p:nvSpPr>
        <p:spPr>
          <a:xfrm>
            <a:off x="3886200" y="1273398"/>
            <a:ext cx="6096000" cy="307777"/>
          </a:xfrm>
          <a:prstGeom prst="rect">
            <a:avLst/>
          </a:prstGeom>
          <a:noFill/>
        </p:spPr>
        <p:txBody>
          <a:bodyPr wrap="square">
            <a:spAutoFit/>
          </a:bodyPr>
          <a:lstStyle/>
          <a:p>
            <a:r>
              <a:rPr lang="en-US" dirty="0">
                <a:hlinkClick r:id="rId3"/>
              </a:rPr>
              <a:t>https://github.com/0two-02/ResearchAgent.git</a:t>
            </a:r>
            <a:endParaRPr lang="en-US" dirty="0"/>
          </a:p>
        </p:txBody>
      </p:sp>
    </p:spTree>
    <p:extLst>
      <p:ext uri="{BB962C8B-B14F-4D97-AF65-F5344CB8AC3E}">
        <p14:creationId xmlns:p14="http://schemas.microsoft.com/office/powerpoint/2010/main" val="4040412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124746"/>
            <a:ext cx="9400115" cy="5031601"/>
          </a:xfrm>
          <a:prstGeom prst="rect">
            <a:avLst/>
          </a:prstGeom>
          <a:noFill/>
          <a:ln>
            <a:noFill/>
          </a:ln>
        </p:spPr>
        <p:txBody>
          <a:bodyPr spcFirstLastPara="1" wrap="square" lIns="0" tIns="0" rIns="0" bIns="0" anchor="t" anchorCtr="0">
            <a:noAutofit/>
          </a:bodyPr>
          <a:lstStyle/>
          <a:p>
            <a:endParaRPr lang="en-US" sz="2000" b="1" dirty="0"/>
          </a:p>
          <a:p>
            <a:r>
              <a:rPr lang="en-US" sz="1800" b="1" dirty="0"/>
              <a:t>1. Real-Time Research Updates –</a:t>
            </a:r>
            <a:br>
              <a:rPr lang="en-US" sz="1800" dirty="0"/>
            </a:br>
            <a:r>
              <a:rPr lang="en-US" sz="1800" dirty="0"/>
              <a:t>The system can continuously monitor new research papers, preprints, and publications to provide users with the </a:t>
            </a:r>
            <a:r>
              <a:rPr lang="en-US" sz="1800" b="1" dirty="0"/>
              <a:t>latest research trends and discoveries</a:t>
            </a:r>
            <a:r>
              <a:rPr lang="en-US" sz="1800" dirty="0"/>
              <a:t>.</a:t>
            </a:r>
            <a:br>
              <a:rPr lang="en-US" sz="1800" dirty="0"/>
            </a:br>
            <a:endParaRPr lang="en-US" sz="1800" dirty="0"/>
          </a:p>
          <a:p>
            <a:r>
              <a:rPr lang="en-US" sz="1800" b="1" dirty="0"/>
              <a:t>2. AI-Powered Voice &amp; Multilingual Support –</a:t>
            </a:r>
            <a:br>
              <a:rPr lang="en-US" sz="1800" dirty="0"/>
            </a:br>
            <a:r>
              <a:rPr lang="en-US" sz="1800" dirty="0"/>
              <a:t>Adding voice interaction and </a:t>
            </a:r>
            <a:r>
              <a:rPr lang="en-US" sz="1800" b="1" dirty="0"/>
              <a:t>multiple language support</a:t>
            </a:r>
            <a:r>
              <a:rPr lang="en-US" sz="1800" dirty="0"/>
              <a:t> will make research assistance more accessible and user-friendly.</a:t>
            </a:r>
            <a:br>
              <a:rPr lang="en-US" sz="1800" dirty="0"/>
            </a:br>
            <a:endParaRPr lang="en-US" sz="1800" dirty="0"/>
          </a:p>
          <a:p>
            <a:r>
              <a:rPr lang="en-US" sz="1800" b="1" dirty="0"/>
              <a:t>3. Advanced Research Prediction –</a:t>
            </a:r>
            <a:br>
              <a:rPr lang="en-US" sz="1800" dirty="0"/>
            </a:br>
            <a:r>
              <a:rPr lang="en-US" sz="1800" dirty="0"/>
              <a:t>Future versions can predict </a:t>
            </a:r>
            <a:r>
              <a:rPr lang="en-US" sz="1800" b="1" dirty="0"/>
              <a:t>emerging research areas</a:t>
            </a:r>
            <a:r>
              <a:rPr lang="en-US" sz="1800" dirty="0"/>
              <a:t> and suggest promising topics based on research trends and gaps.</a:t>
            </a:r>
            <a:br>
              <a:rPr lang="en-US" sz="1800" dirty="0"/>
            </a:br>
            <a:endParaRPr lang="en-US" sz="1800" dirty="0"/>
          </a:p>
          <a:p>
            <a:r>
              <a:rPr lang="en-US" sz="1800" b="1" dirty="0"/>
              <a:t>4. Enhanced Multimodal Analysis –</a:t>
            </a:r>
            <a:br>
              <a:rPr lang="en-US" sz="1800" dirty="0"/>
            </a:br>
            <a:r>
              <a:rPr lang="en-US" sz="1800" dirty="0"/>
              <a:t>The system can analyze </a:t>
            </a:r>
            <a:r>
              <a:rPr lang="en-US" sz="1800" b="1" dirty="0"/>
              <a:t>PDFs, charts, graphs, images, and experimental data</a:t>
            </a:r>
            <a:r>
              <a:rPr lang="en-US" sz="1800" dirty="0"/>
              <a:t> to provide deeper research insights.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32330A53-F315-97E3-BDFC-0836F4A4914F}"/>
              </a:ext>
            </a:extLst>
          </p:cNvPr>
          <p:cNvPicPr>
            <a:picLocks noChangeAspect="1"/>
          </p:cNvPicPr>
          <p:nvPr/>
        </p:nvPicPr>
        <p:blipFill>
          <a:blip r:embed="rId2"/>
          <a:srcRect/>
          <a:stretch/>
        </p:blipFill>
        <p:spPr>
          <a:xfrm>
            <a:off x="2917892" y="1367169"/>
            <a:ext cx="6356215" cy="4800971"/>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0A35603C-9F2E-D41B-D80A-DE68AF261029}"/>
              </a:ext>
            </a:extLst>
          </p:cNvPr>
          <p:cNvPicPr>
            <a:picLocks noChangeAspect="1"/>
          </p:cNvPicPr>
          <p:nvPr/>
        </p:nvPicPr>
        <p:blipFill>
          <a:blip r:embed="rId2"/>
          <a:srcRect/>
          <a:stretch/>
        </p:blipFill>
        <p:spPr>
          <a:xfrm>
            <a:off x="2668432" y="1714411"/>
            <a:ext cx="6855134" cy="4343119"/>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1016</Words>
  <Application>Microsoft Office PowerPoint</Application>
  <PresentationFormat>Widescreen</PresentationFormat>
  <Paragraphs>105</Paragraphs>
  <Slides>12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Riddhi Patel</cp:lastModifiedBy>
  <cp:revision>4</cp:revision>
  <dcterms:created xsi:type="dcterms:W3CDTF">2025-07-08T05:06:56Z</dcterms:created>
  <dcterms:modified xsi:type="dcterms:W3CDTF">2026-09-10T13:14:01Z</dcterms:modified>
</cp:coreProperties>
</file>